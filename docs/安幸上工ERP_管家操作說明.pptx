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開場：這套系統不是要增加大家工作，是把原本用 LINE、Excel、紙本分散記的東西集中起來。今天只講管家和房務會用到的部分，大概 15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強調：左邊自動、右邊要簽核。管家兩邊都會碰到。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請款單「只看得到自己送的」是刻意的，不是壞掉。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現場請大家拿手機一起裝，比講十遍有效。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接下來是重點的第一段。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這是最能說服人的一頁 —— 以前跨月訂單要自己拆，現在不用。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示範一次真實操作比講快。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押金那條最常被誤會。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第二段。這段跟大家的荷包最有關係。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第④步最常被忘記 —— 核可完就以為結束了。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用途填錯，物業損益就算不出來。這是唯一需要他們動腦的欄位。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拆單規避那句要講，這是設計上刻意防的。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留時間現場問，這頁是墊檔用的。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收尾。強調「核可是保護你」——這句能讓大家比較願意配合流程。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A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內部教育訓練 ·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安幸上工 ERP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訂單、收款、請款，一個地方全部搞定。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這份說明給管家與房務 —— 只講你每天會用到的部分。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justwork.estia.com.tw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32520" y="1463040"/>
            <a:ext cx="2606040" cy="3566160"/>
          </a:xfrm>
          <a:prstGeom prst="roundRect">
            <a:avLst>
              <a:gd name="adj" fmla="val 6316"/>
            </a:avLst>
          </a:prstGeom>
          <a:solidFill>
            <a:srgbClr val="3A4650"/>
          </a:solidFill>
          <a:ln w="12700">
            <a:solidFill>
              <a:srgbClr val="4A56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19659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FA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732520" y="3108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09760" y="3703320"/>
            <a:ext cx="1051560" cy="0"/>
          </a:xfrm>
          <a:prstGeom prst="line">
            <a:avLst/>
          </a:prstGeom>
          <a:noFill/>
          <a:ln w="12700">
            <a:solidFill>
              <a:srgbClr val="5A6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B8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今天講完</a:t>
            </a:r>
            <a:endParaRPr lang="en-US" sz="14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B8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每天用不到 5 分鐘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這套系統在做什麼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一句話：把錢進來和錢出去，都變成有紀錄、有憑據、有人負責的動作。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DFF2E8"/>
          </a:solidFill>
          <a:ln w="12700">
            <a:solidFill>
              <a:srgbClr val="DFF2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057400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錢進來  ·  訂單 → 營收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短租訂單（Airbnb 自動抓、直客手動加）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契約長租（建一次，月租單自動長出來）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你只要把訂單記對，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營收報表會自己算出來。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DFEDFA"/>
          </a:solidFill>
          <a:ln w="12700">
            <a:solidFill>
              <a:srgbClr val="DFEDF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11112" y="2057400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4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錢出去  ·  請款 → 核可 → 支出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1112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要花公司的錢，先填請款單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主管與總經理兩票核可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錢真的付出去之後，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支出紀錄自動產生。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440680"/>
            <a:ext cx="10899648" cy="777240"/>
          </a:xfrm>
          <a:prstGeom prst="roundRect">
            <a:avLst>
              <a:gd name="adj" fmla="val 11765"/>
            </a:avLst>
          </a:prstGeom>
          <a:solidFill>
            <a:srgbClr val="ECE8D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左邊那條是自動的，你只要記對。右邊那條要人簽核 —— 錢花出去之前得有人點頭。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你的權限看得到什麼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管家與房務是「一般」權限。看不到的頁面不是被藏起來，是還沒開放給這個職位。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996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83664"/>
            <a:ext cx="365760" cy="36576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短租訂單與收款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73736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記訂單、確認收款、押金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8996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33472"/>
            <a:ext cx="365760" cy="36576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4871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契約訂單與收款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48716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長租契約與每月收租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236976"/>
            <a:ext cx="108996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383280"/>
            <a:ext cx="365760" cy="36576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2369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請款填寫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236976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申請花錢 —— 只看得到自己送的單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3986784"/>
            <a:ext cx="108996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33088"/>
            <a:ext cx="365760" cy="36576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9867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評價 / 清潔記錄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3986784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看旅客評價、填清潔表單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4736592"/>
            <a:ext cx="10899648" cy="658368"/>
          </a:xfrm>
          <a:prstGeom prst="roundRect">
            <a:avLst>
              <a:gd name="adj" fmla="val 11111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82896"/>
            <a:ext cx="365760" cy="365760"/>
          </a:xfrm>
          <a:prstGeom prst="ellipse">
            <a:avLst/>
          </a:prstGeom>
          <a:solidFill>
            <a:srgbClr val="C5C9C4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882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7365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營收報表 / 支出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473659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公司整體數字，開放給會計以上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10899648" cy="658368"/>
          </a:xfrm>
          <a:prstGeom prst="roundRect">
            <a:avLst>
              <a:gd name="adj" fmla="val 11111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632704"/>
            <a:ext cx="365760" cy="365760"/>
          </a:xfrm>
          <a:prstGeom prst="ellipse">
            <a:avLst/>
          </a:prstGeom>
          <a:solidFill>
            <a:srgbClr val="C5C9C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632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54864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系統設定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63440" y="548640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人員、物業、帳號 —— 只有總經理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第一件事：把它裝到手機上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現場記錄用手機最方便。裝成 App 之後是全螢幕、沒有網址列，而且才收得到核可通知。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75688"/>
            <a:ext cx="475488" cy="475488"/>
          </a:xfrm>
          <a:prstGeom prst="ellipse">
            <a:avLst/>
          </a:prstGeom>
          <a:solidFill>
            <a:srgbClr val="2E384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一定要用 Safari（Chrome 不行）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開啟網址 → 下方「分享」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往下找「加入主畫面」→ 新增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75688"/>
            <a:ext cx="475488" cy="475488"/>
          </a:xfrm>
          <a:prstGeom prst="ellipse">
            <a:avLst/>
          </a:prstGeom>
          <a:solidFill>
            <a:srgbClr val="2E384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39512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39512" y="25603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Chrome 開啟網址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右上選單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→「安裝應用程式」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29584" cy="2651760"/>
          </a:xfrm>
          <a:prstGeom prst="roundRect">
            <a:avLst>
              <a:gd name="adj" fmla="val 3103"/>
            </a:avLst>
          </a:prstGeom>
          <a:solidFill>
            <a:srgbClr val="DFF2E8"/>
          </a:solidFill>
          <a:ln w="12700">
            <a:solidFill>
              <a:srgbClr val="DFF2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2075688"/>
            <a:ext cx="475488" cy="475488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24544" y="20574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開啟核可通知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24544" y="2560320"/>
            <a:ext cx="2295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從主畫面圖示進入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請款填寫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最上方「核可通知」按開啟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899648" cy="1143000"/>
          </a:xfrm>
          <a:prstGeom prst="roundRect">
            <a:avLst>
              <a:gd name="adj" fmla="val 8000"/>
            </a:avLst>
          </a:prstGeom>
          <a:solidFill>
            <a:srgbClr val="ECE8D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091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特別注意   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一定要從主畫面的圖示進去才看得到核可通知的開關。用 Safari 直接開網頁是沒有的 —— 這是 Apple 的限制，繞不過去。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3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914400" cy="91440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錢進來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57400" y="31546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短租訂單與收款 —— 你每天最常碰的畫面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你只要做一件事：把訂單記對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訂單記進系統之後，營收報表會自己產生，不用另外填。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463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03120"/>
            <a:ext cx="4151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你輸入的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2606040"/>
            <a:ext cx="4151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客戶：王小明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入住：8 / 28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退房：9 / 5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金額：NT$30,000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742432" y="3063240"/>
            <a:ext cx="777240" cy="640080"/>
          </a:xfrm>
          <a:prstGeom prst="chevron">
            <a:avLst/>
          </a:prstGeom>
          <a:solidFill>
            <a:srgbClr val="3FAE7C"/>
          </a:solidFill>
          <a:ln w="12700">
            <a:solidFill>
              <a:srgbClr val="3FAE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93408" y="1828800"/>
            <a:ext cx="4846320" cy="3108960"/>
          </a:xfrm>
          <a:prstGeom prst="roundRect">
            <a:avLst>
              <a:gd name="adj" fmla="val 2647"/>
            </a:avLst>
          </a:prstGeom>
          <a:solidFill>
            <a:srgbClr val="DFF2E8"/>
          </a:solidFill>
          <a:ln w="12700">
            <a:solidFill>
              <a:srgbClr val="DFF2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0" y="2103120"/>
            <a:ext cx="4151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系統自動算的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2606040"/>
            <a:ext cx="4151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月營收    NT$12,000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月營收    NT$18,000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按住幾晚自動分月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166360"/>
            <a:ext cx="10899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住了 9 晚：4 晚在 8 月、5 晚在 9 月。系統按天數把 3 萬元分到兩個月，不用你手算。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短租訂單：從新增到收款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左側選單「短租訂單與收款」。Airbnb 的訂單每天早上自動抓進來，直客才要手動新增。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9964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0824"/>
            <a:ext cx="457200" cy="457200"/>
          </a:xfrm>
          <a:prstGeom prst="ellipse">
            <a:avLst/>
          </a:prstGeom>
          <a:solidFill>
            <a:srgbClr val="41689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新增訂單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06240" y="1783080"/>
            <a:ext cx="7132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填房源、客戶、入住退房日、金額。押金另外填，不會算進營收。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899648" cy="932688"/>
          </a:xfrm>
          <a:prstGeom prst="roundRect">
            <a:avLst>
              <a:gd name="adj" fmla="val 8824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63240"/>
            <a:ext cx="457200" cy="457200"/>
          </a:xfrm>
          <a:prstGeom prst="ellipse">
            <a:avLst/>
          </a:prstGeom>
          <a:solidFill>
            <a:srgbClr val="41689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2825496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點那一列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06240" y="2825496"/>
            <a:ext cx="7132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右邊滑出詳細抽屜 —— 押金、外幣、備註、發票設定都在裡面。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867912"/>
            <a:ext cx="1089964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05656"/>
            <a:ext cx="457200" cy="457200"/>
          </a:xfrm>
          <a:prstGeom prst="ellipse">
            <a:avLst/>
          </a:prstGeom>
          <a:solidFill>
            <a:srgbClr val="41689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867912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確認收款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206240" y="3867912"/>
            <a:ext cx="7132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錢真的收到才打勾。打勾之後這筆就進帳了。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910328"/>
            <a:ext cx="10899648" cy="932688"/>
          </a:xfrm>
          <a:prstGeom prst="roundRect">
            <a:avLst>
              <a:gd name="adj" fmla="val 8824"/>
            </a:avLst>
          </a:prstGeom>
          <a:solidFill>
            <a:srgbClr val="F1F0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148072"/>
            <a:ext cx="457200" cy="457200"/>
          </a:xfrm>
          <a:prstGeom prst="ellipse">
            <a:avLst/>
          </a:prstGeom>
          <a:solidFill>
            <a:srgbClr val="41689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491032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要改或刪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06240" y="4910328"/>
            <a:ext cx="7132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在抽屜裡面。刪除刻意藏在裡面 —— 手滑一下就是一張真實訂單消失。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訂單這邊，三件事要記得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這三件常被問，先講清楚省得之後對帳。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75688"/>
            <a:ext cx="475488" cy="475488"/>
          </a:xfrm>
          <a:prstGeom prst="ellipse">
            <a:avLst/>
          </a:prstGeom>
          <a:solidFill>
            <a:srgbClr val="C0563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營收報表不能手動改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它是系統從訂單算出來的。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數字不對就去改訂單，報表會跟著變。直接改報表沒有意義，下次重算就沒了。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75688"/>
            <a:ext cx="475488" cy="475488"/>
          </a:xfrm>
          <a:prstGeom prst="ellipse">
            <a:avLst/>
          </a:prstGeom>
          <a:solidFill>
            <a:srgbClr val="41689B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39512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已收款的月租單不會被蓋掉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39512" y="25603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改契約的租期或金額時，系統只會動還沒收錢的那幾期。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已經收到的錢不會憑空變動。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2075688"/>
            <a:ext cx="475488" cy="475488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24544" y="20574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押金不是營收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24544" y="2560320"/>
            <a:ext cx="22951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押金是暫時保管的錢，之後要還給房客，所以不計入營收。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系統分開記在「押金管理」。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3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914400" cy="91440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錢出去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57400" y="31546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請款單 —— 要花公司的錢，從這裡開始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請款的五個步驟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從「4 樓冷氣壞了」到帳上出現一筆支出，中間走這五步。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75104" cy="2743200"/>
          </a:xfrm>
          <a:prstGeom prst="roundRect">
            <a:avLst>
              <a:gd name="adj" fmla="val 4630"/>
            </a:avLst>
          </a:prstGeom>
          <a:solidFill>
            <a:srgbClr val="ECE8DF"/>
          </a:solidFill>
          <a:ln w="12700">
            <a:solidFill>
              <a:srgbClr val="ECE8D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需求發生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房源缺備品、</a:t>
            </a:r>
            <a:endParaRPr lang="en-US" sz="13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設備壞了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15184" y="29718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B0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898648" y="1920240"/>
            <a:ext cx="1975104" cy="2743200"/>
          </a:xfrm>
          <a:prstGeom prst="roundRect">
            <a:avLst>
              <a:gd name="adj" fmla="val 4630"/>
            </a:avLst>
          </a:prstGeom>
          <a:solidFill>
            <a:srgbClr val="DFEDFA"/>
          </a:solidFill>
          <a:ln w="12700">
            <a:solidFill>
              <a:srgbClr val="DFEDF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98648" y="214884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4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98648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4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填請款單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35808" y="324612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一張單可以</a:t>
            </a:r>
            <a:endParaRPr lang="en-US" sz="13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填很多項目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73752" y="29718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B0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157216" y="1920240"/>
            <a:ext cx="1975104" cy="2743200"/>
          </a:xfrm>
          <a:prstGeom prst="roundRect">
            <a:avLst>
              <a:gd name="adj" fmla="val 4630"/>
            </a:avLst>
          </a:prstGeom>
          <a:solidFill>
            <a:srgbClr val="DFEDFA"/>
          </a:solidFill>
          <a:ln w="12700">
            <a:solidFill>
              <a:srgbClr val="DFEDF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57216" y="214884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4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157216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4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94376" y="324612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 + 總經理</a:t>
            </a:r>
            <a:endParaRPr lang="en-US" sz="13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0" y="29718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B0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415784" y="1920240"/>
            <a:ext cx="1975104" cy="2743200"/>
          </a:xfrm>
          <a:prstGeom prst="roundRect">
            <a:avLst>
              <a:gd name="adj" fmla="val 4630"/>
            </a:avLst>
          </a:prstGeom>
          <a:solidFill>
            <a:srgbClr val="DFEDFA"/>
          </a:solidFill>
          <a:ln w="12700">
            <a:solidFill>
              <a:srgbClr val="DFEDF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15784" y="214884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4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415784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4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實際付款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52944" y="324612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現金直接付</a:t>
            </a:r>
            <a:endParaRPr lang="en-US" sz="13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匯款先排程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90888" y="29718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B0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674352" y="1920240"/>
            <a:ext cx="1975104" cy="2743200"/>
          </a:xfrm>
          <a:prstGeom prst="roundRect">
            <a:avLst>
              <a:gd name="adj" fmla="val 4630"/>
            </a:avLst>
          </a:prstGeom>
          <a:solidFill>
            <a:srgbClr val="DFF2E8"/>
          </a:solidFill>
          <a:ln w="12700">
            <a:solidFill>
              <a:srgbClr val="DFF2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74352" y="214884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674352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變成支出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11512" y="324612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自動出現</a:t>
            </a:r>
            <a:endParaRPr lang="en-US" sz="13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不用再輸入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10899648" cy="868680"/>
          </a:xfrm>
          <a:prstGeom prst="roundRect">
            <a:avLst>
              <a:gd name="adj" fmla="val 10526"/>
            </a:avLst>
          </a:prstGeom>
          <a:solidFill>
            <a:srgbClr val="ECE8D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9377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核可通過 ≠ 已經花錢。要等錢真的付出去，才回來按「確認支付」。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一張請款單怎麼填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「請款填寫」→「+ 填寫請款」。買三樣東西不用開三張單，一張單可以填很多項目。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7510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項目名稱 *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197510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買什麼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57800" y="197510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冷氣濾網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55117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 *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55117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多少錢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0" y="255117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12724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會計科目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31272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算哪一類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312724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修繕維護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" y="3675888"/>
            <a:ext cx="6528816" cy="548640"/>
          </a:xfrm>
          <a:prstGeom prst="roundRect">
            <a:avLst>
              <a:gd name="adj" fmla="val 10000"/>
            </a:avLst>
          </a:prstGeom>
          <a:solidFill>
            <a:srgbClr val="DFF2E8"/>
          </a:solidFill>
          <a:ln w="12700">
            <a:solidFill>
              <a:srgbClr val="DFF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033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 *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80360" y="370332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花在哪個物業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37033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27939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80360" y="427939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補充說明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427939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（選填）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4901184"/>
            <a:ext cx="6309360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97433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 * 的是必填。填完可以先「儲存草稿」，確定了再按「送出審核」。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99248" y="1783080"/>
            <a:ext cx="3840480" cy="3520440"/>
          </a:xfrm>
          <a:prstGeom prst="roundRect">
            <a:avLst>
              <a:gd name="adj" fmla="val 2338"/>
            </a:avLst>
          </a:prstGeom>
          <a:solidFill>
            <a:srgbClr val="DFF2E8"/>
          </a:solidFill>
          <a:ln w="12700">
            <a:solidFill>
              <a:srgbClr val="DFF2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0" y="20574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「用途」最重要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0" y="2560320"/>
            <a:ext cx="31455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選的是物業層級 —— 時兆、正隆，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不是「時兆A2」。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之後要看「哪個物業花最多錢」，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全靠這一欄。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不是物業的（辦公室文具、公司保險）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選「安幸辦公室」。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誰要點頭：三千元的門檻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看的是整張單換算成台幣的總額，不是單項金額。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DFF2E8"/>
          </a:solidFill>
          <a:ln w="12700">
            <a:solidFill>
              <a:srgbClr val="DFF2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03120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總額低於 NT$3,000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2606040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A5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直接通過，不用等任何人。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950208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DFEDFA"/>
          </a:solidFill>
          <a:ln w="12700">
            <a:solidFill>
              <a:srgbClr val="DFEDF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4224528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4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總額 NT$3,000 以上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4727448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4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主管一票 + 總經理一票，兩票到齊才通過。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4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誰先點都可以，沒有先後順序。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76088" cy="4087368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2103120"/>
            <a:ext cx="4581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幾件實務上的事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1112" y="2606040"/>
            <a:ext cx="458114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三個項目各 1,500、總共 4,500 —— 還是要核可。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這樣才不會有人靠拆單規避。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覺得有問題可以「駁回」並寫原因，單子回到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申請人手上，改完重送。已投的票會清空。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找不到人核可？用列上的「分享」傳到 LINE，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主管點連結直接開到那張單。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核可前都還能改，改完會重新跑一次審核。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最常被問的六件事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746504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16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「送出了才發現填錯」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32688" y="2130552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自己撤銷，或請主管駁回。改完重送。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36208" y="1600200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8816" y="1746504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16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「找不到「確認支付」」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28816" y="2130552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匯款和信用卡要先按「排付款」選日期和帳戶。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191256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16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「核可按鈕點不下去」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3575304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你那票已經投過了，或你是會計（會計不核可）。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6208" y="3044952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3191256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16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「上個月的單找不到」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28816" y="3575304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請款頁預設只顯示本月。把上方月份改掉。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489704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636008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16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「我看不到支出頁」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32688" y="5020056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一般權限看不到。支出開放給會計以上。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6208" y="4489704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4636008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16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「手機收不到通知」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28816" y="5020056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要從主畫面圖示進去，且請款頁的「核可通知」要開。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3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記住三件事就好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10515600" cy="1170432"/>
          </a:xfrm>
          <a:prstGeom prst="roundRect">
            <a:avLst>
              <a:gd name="adj" fmla="val 7813"/>
            </a:avLst>
          </a:prstGeom>
          <a:solidFill>
            <a:srgbClr val="3A4650"/>
          </a:solidFill>
          <a:ln w="12700">
            <a:solidFill>
              <a:srgbClr val="4652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231136"/>
            <a:ext cx="457200" cy="45720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10512" y="20574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用途一定要填對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10512" y="247802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物業分項統計、單一物業的損益，全靠這一欄。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91256"/>
            <a:ext cx="10515600" cy="1170432"/>
          </a:xfrm>
          <a:prstGeom prst="roundRect">
            <a:avLst>
              <a:gd name="adj" fmla="val 7813"/>
            </a:avLst>
          </a:prstGeom>
          <a:solidFill>
            <a:srgbClr val="3A4650"/>
          </a:solidFill>
          <a:ln w="12700">
            <a:solidFill>
              <a:srgbClr val="4652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547872"/>
            <a:ext cx="457200" cy="45720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10512" y="33741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系統自動算的不要手動改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10512" y="37947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營收報表、月租單、請款連動的支出 —— 要改就改源頭。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507992"/>
            <a:ext cx="10515600" cy="1170432"/>
          </a:xfrm>
          <a:prstGeom prst="roundRect">
            <a:avLst>
              <a:gd name="adj" fmla="val 7813"/>
            </a:avLst>
          </a:prstGeom>
          <a:solidFill>
            <a:srgbClr val="3A4650"/>
          </a:solidFill>
          <a:ln w="12700">
            <a:solidFill>
              <a:srgbClr val="4652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864608"/>
            <a:ext cx="457200" cy="457200"/>
          </a:xfrm>
          <a:prstGeom prst="ellipse">
            <a:avLst/>
          </a:prstGeom>
          <a:solidFill>
            <a:srgbClr val="3FAE7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10512" y="469087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核可是為了保護你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810512" y="5111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不是不信任。事後有疑問時，單子上寫得清清楚楚是誰在什麼時候點頭的。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有問題找 David   ·   justwork.estia.com.tw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安幸上工 ERP — 管家與房務操作說明</dc:title>
  <dc:subject>PptxGenJS Presentation</dc:subject>
  <dc:creator>安幸上工</dc:creator>
  <cp:lastModifiedBy>安幸上工</cp:lastModifiedBy>
  <cp:revision>1</cp:revision>
  <dcterms:created xsi:type="dcterms:W3CDTF">2026-08-04T12:36:59Z</dcterms:created>
  <dcterms:modified xsi:type="dcterms:W3CDTF">2026-08-04T12:36:59Z</dcterms:modified>
</cp:coreProperties>
</file>