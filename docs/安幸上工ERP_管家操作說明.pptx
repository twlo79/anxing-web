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開場：這套系統不是要增加大家工作，是把原本用 LINE、Excel、紙本分散記的東西集中起來。今天只講管家和房務會用到的部分。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把手機拿出來給大家看一眼 —— 它就在桌面上，跟 LINE、TimeTree 並排。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強調：左邊自動、右邊要簽核。管家兩邊都會碰到。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請款單「只看得到自己送的」是刻意的，不是壞掉。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現場請大家拿手機一起裝，比講十遍有效。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餘數放最後一期不是隨便決定的：最後一期通常還沒結案，調整它不會動到已經對過帳、出過月報的月份。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示範一次真實操作比講快。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押金那條最常被誤會。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第二段，跟大家荷包最有關係。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這是整份簡報最重要的一頁。第④步最常被忘記 —— 核可完就以為結束了。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採購單沒有金額這件事要特別講，很多人以為填了採購單就等於報帳了。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用途填錯，物業損益就算不出來。這是唯一需要動腦的欄位。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拆單規避那句要講，這是設計上刻意防的。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「不用再輸入一次」是這一步最大的價值。以前請款完還要手動打一次支出。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留時間現場問。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收尾。「核可是保護你」這句能讓大家比較願意配合流程。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8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A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內部教育訓練 · 2026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240280"/>
            <a:ext cx="10515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安幸上工 ERP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7589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C7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訂單、收款、請款，一個地方全部搞定。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C7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這份說明給管家與房務 —— 只講你每天會用到的部分。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5029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A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justwork.estia.com.tw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732520" y="1463040"/>
            <a:ext cx="2606040" cy="3566160"/>
          </a:xfrm>
          <a:prstGeom prst="roundRect">
            <a:avLst>
              <a:gd name="adj" fmla="val 6316"/>
            </a:avLst>
          </a:prstGeom>
          <a:solidFill>
            <a:srgbClr val="3A4650"/>
          </a:solidFill>
          <a:ln w="12700">
            <a:solidFill>
              <a:srgbClr val="4A56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32520" y="196596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3FAE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8732520" y="310896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分鐘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09760" y="3703320"/>
            <a:ext cx="1051560" cy="0"/>
          </a:xfrm>
          <a:prstGeom prst="line">
            <a:avLst/>
          </a:prstGeom>
          <a:noFill/>
          <a:ln w="12700">
            <a:solidFill>
              <a:srgbClr val="5A66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15400" y="38862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B8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今天講完</a:t>
            </a:r>
            <a:endParaRPr lang="en-US" sz="145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B8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每天用不到 5 分鐘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0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很開心有安幸的 ERP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不用開電腦、不用記網址。裝好之後就跟其他 App 一樣，點一下就進去。</a:t>
            </a:r>
            <a:endParaRPr lang="en-US" sz="1700" dirty="0"/>
          </a:p>
        </p:txBody>
      </p:sp>
      <p:pic>
        <p:nvPicPr>
          <p:cNvPr id="4" name="Image 0" descr="/tmp/deck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411480"/>
            <a:ext cx="2788920" cy="6080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2377440"/>
            <a:ext cx="69494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60120" y="2715768"/>
            <a:ext cx="475488" cy="475488"/>
          </a:xfrm>
          <a:prstGeom prst="ellipse">
            <a:avLst/>
          </a:prstGeom>
          <a:solidFill>
            <a:srgbClr val="41689B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27157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45920" y="237744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全螢幕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566160" y="237744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沒有網址列，跟一般 App 一樣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3657600"/>
            <a:ext cx="69494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60120" y="3995928"/>
            <a:ext cx="475488" cy="475488"/>
          </a:xfrm>
          <a:prstGeom prst="ellipse">
            <a:avLst/>
          </a:prstGeom>
          <a:solidFill>
            <a:srgbClr val="3FAE7C"/>
          </a:solidFill>
          <a:ln/>
        </p:spPr>
      </p:sp>
      <p:sp>
        <p:nvSpPr>
          <p:cNvPr id="12" name="Text 9"/>
          <p:cNvSpPr/>
          <p:nvPr/>
        </p:nvSpPr>
        <p:spPr>
          <a:xfrm>
            <a:off x="960120" y="399592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645920" y="365760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收得到通知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3566160" y="365760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有請款單等你核可時手機會跳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4937760"/>
            <a:ext cx="69494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60120" y="5276088"/>
            <a:ext cx="475488" cy="475488"/>
          </a:xfrm>
          <a:prstGeom prst="ellipse">
            <a:avLst/>
          </a:prstGeom>
          <a:solidFill>
            <a:srgbClr val="41689B"/>
          </a:solidFill>
          <a:ln/>
        </p:spPr>
      </p:sp>
      <p:sp>
        <p:nvSpPr>
          <p:cNvPr id="17" name="Text 14"/>
          <p:cNvSpPr/>
          <p:nvPr/>
        </p:nvSpPr>
        <p:spPr>
          <a:xfrm>
            <a:off x="960120" y="52760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645920" y="493776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隨手就能記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3566160" y="493776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現場拍完憑證直接上傳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這套系統在做什麼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7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一句話：把錢進來和錢出去，都變成有紀錄、有憑據、有人負責的動作。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DFF2E8"/>
          </a:solidFill>
          <a:ln w="12700">
            <a:solidFill>
              <a:srgbClr val="DFF2E8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2057400"/>
            <a:ext cx="4562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錢進來  ·  訂單 → 營收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87552" y="2560320"/>
            <a:ext cx="456285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短租訂單（Airbnb 自動抓、直客手動加）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契約長租（建一次，月租單自動長出來）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你只要把訂單記對，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營收報表會自己算出來。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DFEDFA"/>
          </a:solidFill>
          <a:ln w="12700">
            <a:solidFill>
              <a:srgbClr val="DFEDF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11112" y="2057400"/>
            <a:ext cx="4562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錢出去  ·  採購 → 請款 → 支出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11112" y="2560320"/>
            <a:ext cx="456285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要花公司的錢，先填請款單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三千以上要主管與總經理兩票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會計填了出款日之後，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支出紀錄自動產生。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5440680"/>
            <a:ext cx="10899648" cy="777240"/>
          </a:xfrm>
          <a:prstGeom prst="roundRect">
            <a:avLst>
              <a:gd name="adj" fmla="val 11765"/>
            </a:avLst>
          </a:prstGeom>
          <a:solidFill>
            <a:srgbClr val="ECE8DF"/>
          </a:solidFill>
          <a:ln w="12700">
            <a:solidFill>
              <a:srgbClr val="ECE8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440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左邊那條是自動的，你只要記對。右邊那條要人簽核 —— 錢花出去之前得有人點頭。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你的權限看得到什麼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7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管家與房務是「一般」權限。看不到的頁面不是被藏起來，是還沒開放給這個職位。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9964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83664"/>
            <a:ext cx="365760" cy="365760"/>
          </a:xfrm>
          <a:prstGeom prst="ellipse">
            <a:avLst/>
          </a:prstGeom>
          <a:solidFill>
            <a:srgbClr val="3FAE7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836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短租訂單與收款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63440" y="1737360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記訂單、確認收款、押金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89964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633472"/>
            <a:ext cx="365760" cy="365760"/>
          </a:xfrm>
          <a:prstGeom prst="ellipse">
            <a:avLst/>
          </a:prstGeom>
          <a:solidFill>
            <a:srgbClr val="3FAE7C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6334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17320" y="2487168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契約訂單與收款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63440" y="2487168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長租契約與每月收租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236976"/>
            <a:ext cx="1089964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3383280"/>
            <a:ext cx="365760" cy="365760"/>
          </a:xfrm>
          <a:prstGeom prst="ellipse">
            <a:avLst/>
          </a:prstGeom>
          <a:solidFill>
            <a:srgbClr val="3FAE7C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383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236976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請款填寫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63440" y="3236976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申請花錢 —— 只看得到自己送的單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3986784"/>
            <a:ext cx="1089964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4133088"/>
            <a:ext cx="365760" cy="365760"/>
          </a:xfrm>
          <a:prstGeom prst="ellipse">
            <a:avLst/>
          </a:prstGeom>
          <a:solidFill>
            <a:srgbClr val="3FAE7C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1330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17320" y="3986784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評價 / 清潔記錄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663440" y="3986784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看旅客評價、填清潔表單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40080" y="4736592"/>
            <a:ext cx="10899648" cy="658368"/>
          </a:xfrm>
          <a:prstGeom prst="roundRect">
            <a:avLst>
              <a:gd name="adj" fmla="val 11111"/>
            </a:avLst>
          </a:prstGeom>
          <a:solidFill>
            <a:srgbClr val="F1F0EC"/>
          </a:solidFill>
          <a:ln w="12700">
            <a:solidFill>
              <a:srgbClr val="F1F0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" y="4882896"/>
            <a:ext cx="365760" cy="365760"/>
          </a:xfrm>
          <a:prstGeom prst="ellipse">
            <a:avLst/>
          </a:prstGeom>
          <a:solidFill>
            <a:srgbClr val="C5C9C4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8828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417320" y="4736592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營收報表 / 支出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663440" y="473659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AA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公司整體數字，開放給會計以上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40080" y="5486400"/>
            <a:ext cx="10899648" cy="658368"/>
          </a:xfrm>
          <a:prstGeom prst="roundRect">
            <a:avLst>
              <a:gd name="adj" fmla="val 11111"/>
            </a:avLst>
          </a:prstGeom>
          <a:solidFill>
            <a:srgbClr val="F1F0EC"/>
          </a:solidFill>
          <a:ln w="12700">
            <a:solidFill>
              <a:srgbClr val="F1F0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68680" y="5632704"/>
            <a:ext cx="365760" cy="365760"/>
          </a:xfrm>
          <a:prstGeom prst="ellipse">
            <a:avLst/>
          </a:prstGeom>
          <a:solidFill>
            <a:srgbClr val="C5C9C4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56327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417320" y="54864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系統設定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663440" y="5486400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AA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人員、物業、帳號 —— 只有總經理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怎麼裝到手機上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7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兩種手機做法不一樣。裝好才收得到核可通知。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75688"/>
            <a:ext cx="475488" cy="475488"/>
          </a:xfrm>
          <a:prstGeom prst="ellipse">
            <a:avLst/>
          </a:prstGeom>
          <a:solidFill>
            <a:srgbClr val="2E384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756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5603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一定要用 Safari（Chrome 不行）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開啟網址 → 下方「分享」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往下找「加入主畫面」→ 新增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25112" y="178308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075688"/>
            <a:ext cx="475488" cy="475488"/>
          </a:xfrm>
          <a:prstGeom prst="ellipse">
            <a:avLst/>
          </a:prstGeom>
          <a:solidFill>
            <a:srgbClr val="2E3840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0756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239512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239512" y="25603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Chrome 開啟網址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右上「⋮」選單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→「安裝應用程式」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10144" y="1783080"/>
            <a:ext cx="3529584" cy="2651760"/>
          </a:xfrm>
          <a:prstGeom prst="roundRect">
            <a:avLst>
              <a:gd name="adj" fmla="val 3103"/>
            </a:avLst>
          </a:prstGeom>
          <a:solidFill>
            <a:srgbClr val="DFF2E8"/>
          </a:solidFill>
          <a:ln w="12700">
            <a:solidFill>
              <a:srgbClr val="DFF2E8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2752" y="2075688"/>
            <a:ext cx="475488" cy="475488"/>
          </a:xfrm>
          <a:prstGeom prst="ellipse">
            <a:avLst/>
          </a:prstGeom>
          <a:solidFill>
            <a:srgbClr val="3FAE7C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20756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924544" y="2057400"/>
            <a:ext cx="2295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開啟核可通知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24544" y="2560320"/>
            <a:ext cx="2295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從主畫面圖示進入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請款填寫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最上方「核可通知」按開啟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4709160"/>
            <a:ext cx="10899648" cy="1143000"/>
          </a:xfrm>
          <a:prstGeom prst="roundRect">
            <a:avLst>
              <a:gd name="adj" fmla="val 8000"/>
            </a:avLst>
          </a:prstGeom>
          <a:solidFill>
            <a:srgbClr val="ECE8DF"/>
          </a:solidFill>
          <a:ln w="12700">
            <a:solidFill>
              <a:srgbClr val="ECE8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7091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特別注意   </a:t>
            </a:r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一定要從主畫面的圖示進去才看得到核可通知的開關。用 Safari 直接開網頁是沒有的 —— 這是 Apple 的限制，繞不過去。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38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914400" cy="914400"/>
          </a:xfrm>
          <a:prstGeom prst="ellipse">
            <a:avLst/>
          </a:prstGeom>
          <a:solidFill>
            <a:srgbClr val="3FAE7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31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057400" y="2286000"/>
            <a:ext cx="8961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錢進來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057400" y="315468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短租訂單與收款 —— 你每天最常碰的畫面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你只要做一件事：把訂單記對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7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訂單記進系統之後，營收報表會自己產生，不用另外填。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79476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2057400"/>
            <a:ext cx="3099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你輸入的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87552" y="2560320"/>
            <a:ext cx="309981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一筆 NT$10,000 的收入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住的期間橫跨三個月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17720" y="3063240"/>
            <a:ext cx="731520" cy="640080"/>
          </a:xfrm>
          <a:prstGeom prst="chevron">
            <a:avLst/>
          </a:prstGeom>
          <a:solidFill>
            <a:srgbClr val="3FAE7C"/>
          </a:solidFill>
          <a:ln w="12700">
            <a:solidFill>
              <a:srgbClr val="3FAE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532120" y="1783080"/>
            <a:ext cx="6007608" cy="3200400"/>
          </a:xfrm>
          <a:prstGeom prst="roundRect">
            <a:avLst>
              <a:gd name="adj" fmla="val 2857"/>
            </a:avLst>
          </a:prstGeom>
          <a:solidFill>
            <a:srgbClr val="DFF2E8"/>
          </a:solidFill>
          <a:ln w="12700">
            <a:solidFill>
              <a:srgbClr val="DFF2E8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879592" y="20116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系統自動拆成三期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879592" y="2578608"/>
            <a:ext cx="5303520" cy="585216"/>
          </a:xfrm>
          <a:prstGeom prst="roundRect">
            <a:avLst>
              <a:gd name="adj" fmla="val 10938"/>
            </a:avLst>
          </a:prstGeom>
          <a:solidFill>
            <a:srgbClr val="EAF6EF"/>
          </a:solidFill>
          <a:ln w="12700">
            <a:solidFill>
              <a:srgbClr val="EAF6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80760" y="2578608"/>
            <a:ext cx="1188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23760" y="257860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F6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3,333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823960" y="2578608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無條件捨去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879592" y="3255264"/>
            <a:ext cx="5303520" cy="585216"/>
          </a:xfrm>
          <a:prstGeom prst="roundRect">
            <a:avLst>
              <a:gd name="adj" fmla="val 10938"/>
            </a:avLst>
          </a:prstGeom>
          <a:solidFill>
            <a:srgbClr val="EAF6EF"/>
          </a:solidFill>
          <a:ln w="12700">
            <a:solidFill>
              <a:srgbClr val="EAF6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3255264"/>
            <a:ext cx="1188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期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23760" y="325526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F6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3,333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823960" y="3255264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無條件捨去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879592" y="3931920"/>
            <a:ext cx="5303520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3FAE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3931920"/>
            <a:ext cx="1188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期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393192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F6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3,334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823960" y="3931920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餘數補在最後一期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79592" y="457200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3,333 + 3,333 + 3,334 = 10,000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5166360"/>
            <a:ext cx="10899648" cy="868680"/>
          </a:xfrm>
          <a:prstGeom prst="roundRect">
            <a:avLst>
              <a:gd name="adj" fmla="val 10526"/>
            </a:avLst>
          </a:prstGeom>
          <a:solidFill>
            <a:srgbClr val="ECE8DF"/>
          </a:solidFill>
          <a:ln w="12700">
            <a:solidFill>
              <a:srgbClr val="ECE8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51663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前面幾期一律無條件捨去，除不盡的餘數全部補在最後一期 —— 加起來一定等於原本的金額，不會多也不會少。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短租訂單：從新增到收款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7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左側選單「短租訂單與收款」。Airbnb 的訂單每天早上自動抓進來，直客才要手動新增。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99648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20824"/>
            <a:ext cx="457200" cy="457200"/>
          </a:xfrm>
          <a:prstGeom prst="ellipse">
            <a:avLst/>
          </a:prstGeom>
          <a:solidFill>
            <a:srgbClr val="41689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208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1783080"/>
            <a:ext cx="2651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新增訂單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206240" y="1783080"/>
            <a:ext cx="7132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填房源、客戶、入住退房日、金額。押金另外填，不會算進營收。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825496"/>
            <a:ext cx="10899648" cy="932688"/>
          </a:xfrm>
          <a:prstGeom prst="roundRect">
            <a:avLst>
              <a:gd name="adj" fmla="val 8824"/>
            </a:avLst>
          </a:prstGeom>
          <a:solidFill>
            <a:srgbClr val="F1F0EC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063240"/>
            <a:ext cx="457200" cy="457200"/>
          </a:xfrm>
          <a:prstGeom prst="ellipse">
            <a:avLst/>
          </a:prstGeom>
          <a:solidFill>
            <a:srgbClr val="41689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554480" y="2825496"/>
            <a:ext cx="2651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點那一列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206240" y="2825496"/>
            <a:ext cx="7132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右邊滑出詳細抽屜 —— 押金、外幣、備註、發票設定都在裡面。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867912"/>
            <a:ext cx="10899648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105656"/>
            <a:ext cx="457200" cy="457200"/>
          </a:xfrm>
          <a:prstGeom prst="ellipse">
            <a:avLst/>
          </a:prstGeom>
          <a:solidFill>
            <a:srgbClr val="41689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1056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554480" y="3867912"/>
            <a:ext cx="2651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確認收款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206240" y="3867912"/>
            <a:ext cx="7132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錢真的收到才打勾。打勾之後這筆就進帳了。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4910328"/>
            <a:ext cx="10899648" cy="932688"/>
          </a:xfrm>
          <a:prstGeom prst="roundRect">
            <a:avLst>
              <a:gd name="adj" fmla="val 8824"/>
            </a:avLst>
          </a:prstGeom>
          <a:solidFill>
            <a:srgbClr val="F1F0EC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148072"/>
            <a:ext cx="457200" cy="457200"/>
          </a:xfrm>
          <a:prstGeom prst="ellipse">
            <a:avLst/>
          </a:prstGeom>
          <a:solidFill>
            <a:srgbClr val="41689B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148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54480" y="4910328"/>
            <a:ext cx="2651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要改或刪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206240" y="4910328"/>
            <a:ext cx="7132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在抽屜裡面。刪除刻意藏在裡面 —— 手滑一下就是一張真實訂單消失。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訂單這邊，三件事要記得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7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這三件常被問，先講清楚省得之後對帳。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75688"/>
            <a:ext cx="475488" cy="475488"/>
          </a:xfrm>
          <a:prstGeom prst="ellipse">
            <a:avLst/>
          </a:prstGeom>
          <a:solidFill>
            <a:srgbClr val="C0563F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756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營收報表不能手動改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56032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它是系統從訂單算出來的。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數字不對就去改訂單，報表會跟著變。直接改報表沒有意義，下次重算就沒了。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25112" y="17830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075688"/>
            <a:ext cx="475488" cy="475488"/>
          </a:xfrm>
          <a:prstGeom prst="ellipse">
            <a:avLst/>
          </a:prstGeom>
          <a:solidFill>
            <a:srgbClr val="41689B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0756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239512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已收款的月租單不會被蓋掉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239512" y="256032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改契約的租期或金額時，系統只會動還沒收錢的那幾期。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已經收到的錢不會憑空變動。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10144" y="178308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2752" y="2075688"/>
            <a:ext cx="475488" cy="475488"/>
          </a:xfrm>
          <a:prstGeom prst="ellipse">
            <a:avLst/>
          </a:prstGeom>
          <a:solidFill>
            <a:srgbClr val="3FAE7C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20756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924544" y="2057400"/>
            <a:ext cx="2295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押金不是營收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924544" y="2560320"/>
            <a:ext cx="229514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押金是暫時保管的錢，之後要還給房客，所以不計入營收。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系統分開記在「押金管理」。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38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914400" cy="914400"/>
          </a:xfrm>
          <a:prstGeom prst="ellipse">
            <a:avLst/>
          </a:prstGeom>
          <a:solidFill>
            <a:srgbClr val="3FAE7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31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057400" y="2286000"/>
            <a:ext cx="8961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錢出去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057400" y="315468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採購 → 請款 → 核可 → 出款 → 支出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從「東西壞了」到帳上出現一筆支出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7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中間走這五步。每一步都有人負責，每一步都留下紀錄。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975104" cy="3063240"/>
          </a:xfrm>
          <a:prstGeom prst="roundRect">
            <a:avLst>
              <a:gd name="adj" fmla="val 4630"/>
            </a:avLst>
          </a:prstGeom>
          <a:solidFill>
            <a:srgbClr val="ECE8DF"/>
          </a:solidFill>
          <a:ln w="12700">
            <a:solidFill>
              <a:srgbClr val="ECE8D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93392"/>
            <a:ext cx="197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578608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採購單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3090672"/>
            <a:ext cx="17556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要買什麼</a:t>
            </a:r>
            <a:endParaRPr lang="en-US" sz="13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先登記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14400" y="4206240"/>
            <a:ext cx="1426464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2062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沒有金額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615184" y="2971800"/>
            <a:ext cx="2834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8B0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2898648" y="1783080"/>
            <a:ext cx="1975104" cy="3063240"/>
          </a:xfrm>
          <a:prstGeom prst="roundRect">
            <a:avLst>
              <a:gd name="adj" fmla="val 4630"/>
            </a:avLst>
          </a:prstGeom>
          <a:solidFill>
            <a:srgbClr val="DFEDFA"/>
          </a:solidFill>
          <a:ln w="12700">
            <a:solidFill>
              <a:srgbClr val="DFEDF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898648" y="1993392"/>
            <a:ext cx="197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4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898648" y="2578608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請款單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008376" y="3090672"/>
            <a:ext cx="17556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拿到發票後</a:t>
            </a:r>
            <a:endParaRPr lang="en-US" sz="13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填金額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172968" y="4206240"/>
            <a:ext cx="1426464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2968" y="42062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有金額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873752" y="2971800"/>
            <a:ext cx="2834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8B0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157216" y="1783080"/>
            <a:ext cx="1975104" cy="3063240"/>
          </a:xfrm>
          <a:prstGeom prst="roundRect">
            <a:avLst>
              <a:gd name="adj" fmla="val 4630"/>
            </a:avLst>
          </a:prstGeom>
          <a:solidFill>
            <a:srgbClr val="DFEDFA"/>
          </a:solidFill>
          <a:ln w="12700">
            <a:solidFill>
              <a:srgbClr val="DFEDF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157216" y="1993392"/>
            <a:ext cx="197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4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157216" y="2578608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核可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266944" y="3090672"/>
            <a:ext cx="17556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 以上</a:t>
            </a:r>
            <a:endParaRPr lang="en-US" sz="13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要兩票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31536" y="4206240"/>
            <a:ext cx="1426464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31536" y="42062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主管+總經理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132320" y="2971800"/>
            <a:ext cx="2834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8B0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7415784" y="1783080"/>
            <a:ext cx="1975104" cy="3063240"/>
          </a:xfrm>
          <a:prstGeom prst="roundRect">
            <a:avLst>
              <a:gd name="adj" fmla="val 4630"/>
            </a:avLst>
          </a:prstGeom>
          <a:solidFill>
            <a:srgbClr val="DFEDFA"/>
          </a:solidFill>
          <a:ln w="12700">
            <a:solidFill>
              <a:srgbClr val="DFEDF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15784" y="1993392"/>
            <a:ext cx="197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4C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④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7415784" y="2578608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會計出款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525512" y="3090672"/>
            <a:ext cx="17556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填出款日</a:t>
            </a:r>
            <a:endParaRPr lang="en-US" sz="13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錢真的付了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690104" y="4206240"/>
            <a:ext cx="1426464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90104" y="42062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會計負責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390888" y="2971800"/>
            <a:ext cx="2834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8B0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9674352" y="1783080"/>
            <a:ext cx="1975104" cy="3063240"/>
          </a:xfrm>
          <a:prstGeom prst="roundRect">
            <a:avLst>
              <a:gd name="adj" fmla="val 4630"/>
            </a:avLst>
          </a:prstGeom>
          <a:solidFill>
            <a:srgbClr val="DFF2E8"/>
          </a:solidFill>
          <a:ln w="12700">
            <a:solidFill>
              <a:srgbClr val="DFF2E8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674352" y="1993392"/>
            <a:ext cx="197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6B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⑤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9674352" y="2578608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支出認列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9784080" y="3090672"/>
            <a:ext cx="17556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自動產生</a:t>
            </a:r>
            <a:endParaRPr lang="en-US" sz="13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不用再輸入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9948672" y="4206240"/>
            <a:ext cx="1426464" cy="384048"/>
          </a:xfrm>
          <a:prstGeom prst="roundRect">
            <a:avLst>
              <a:gd name="adj" fmla="val 476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48672" y="42062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系統自動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40080" y="5074920"/>
            <a:ext cx="10899648" cy="868680"/>
          </a:xfrm>
          <a:prstGeom prst="roundRect">
            <a:avLst>
              <a:gd name="adj" fmla="val 10526"/>
            </a:avLst>
          </a:prstGeom>
          <a:solidFill>
            <a:srgbClr val="ECE8DF"/>
          </a:solidFill>
          <a:ln w="12700">
            <a:solidFill>
              <a:srgbClr val="ECE8D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507492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核可通過 ≠ 已經花錢。要等會計填了出款日、錢真的付出去，才會變成支出。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採購單和請款單差在哪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7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兩張單、兩個時間點。搞混的話東西買了卻沒人請款，或是還沒買就先報帳。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566160"/>
          </a:xfrm>
          <a:prstGeom prst="roundRect">
            <a:avLst>
              <a:gd name="adj" fmla="val 2308"/>
            </a:avLst>
          </a:prstGeom>
          <a:solidFill>
            <a:srgbClr val="ECE8DF"/>
          </a:solidFill>
          <a:ln w="12700">
            <a:solidFill>
              <a:srgbClr val="ECE8D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75688"/>
            <a:ext cx="475488" cy="475488"/>
          </a:xfrm>
          <a:prstGeom prst="ellipse">
            <a:avLst/>
          </a:prstGeom>
          <a:solidFill>
            <a:srgbClr val="2E384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756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057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採購單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560320"/>
            <a:ext cx="4023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「請款填寫」→「+ 採購單」（Google 表單）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買之前填。寫清楚要買什麼、為什麼要買、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哪個物業要用。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沒有金額 —— 因為還沒買，不知道多少錢。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目的是讓大家知道有這筆需求，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避免重複採買或買錯規格。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76088" cy="3566160"/>
          </a:xfrm>
          <a:prstGeom prst="roundRect">
            <a:avLst>
              <a:gd name="adj" fmla="val 2308"/>
            </a:avLst>
          </a:prstGeom>
          <a:solidFill>
            <a:srgbClr val="DFEDFA"/>
          </a:solidFill>
          <a:ln w="12700">
            <a:solidFill>
              <a:srgbClr val="DFEDF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2075688"/>
            <a:ext cx="475488" cy="475488"/>
          </a:xfrm>
          <a:prstGeom prst="ellipse">
            <a:avLst/>
          </a:prstGeom>
          <a:solidFill>
            <a:srgbClr val="41689B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48" y="20756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178040" y="2057400"/>
            <a:ext cx="4041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請款單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78040" y="2560320"/>
            <a:ext cx="40416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「請款填寫」→「+ 填寫請款」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買完、拿到發票收據之後填。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有金額、有會計科目、有用途、有憑證號碼。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一張單可以填很多項目。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這張才會進入核可流程，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也只有這張最後會變成支出。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10899648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553212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小額的東西可以直接填請款單，不用先開採購單。金額大或需要先討論的才走採購單。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一張請款單怎麼填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7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買三樣東西不用開三張單，一張單可以填很多項目。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85800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75104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項目名稱 *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880360" y="1975104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買什麼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257800" y="1975104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冷氣濾網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255117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 *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880360" y="2551176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多少錢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257800" y="255117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3127248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會計科目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80360" y="3127248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算哪一類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3127248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修繕維護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" y="3675888"/>
            <a:ext cx="6528816" cy="548640"/>
          </a:xfrm>
          <a:prstGeom prst="roundRect">
            <a:avLst>
              <a:gd name="adj" fmla="val 10000"/>
            </a:avLst>
          </a:prstGeom>
          <a:solidFill>
            <a:srgbClr val="DFF2E8"/>
          </a:solidFill>
          <a:ln w="12700">
            <a:solidFill>
              <a:srgbClr val="DFF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703320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用途 *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880360" y="3703320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花在哪個物業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57800" y="3703320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4279392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房源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880360" y="4279392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哪一間（選填）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57800" y="4279392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時兆 A2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0120" y="4855464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憑證號碼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880360" y="4855464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發票或收據號碼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57800" y="4855464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AB-12345678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0120" y="5477256"/>
            <a:ext cx="6309360" cy="0"/>
          </a:xfrm>
          <a:prstGeom prst="line">
            <a:avLst/>
          </a:prstGeom>
          <a:noFill/>
          <a:ln w="12700">
            <a:solidFill>
              <a:srgbClr val="E0DD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5541264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7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 * 的是必填。填完可以先「儲存草稿」，確定了再按「送出審核」。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699248" y="1783080"/>
            <a:ext cx="3840480" cy="3794760"/>
          </a:xfrm>
          <a:prstGeom prst="roundRect">
            <a:avLst>
              <a:gd name="adj" fmla="val 2169"/>
            </a:avLst>
          </a:prstGeom>
          <a:solidFill>
            <a:srgbClr val="DFF2E8"/>
          </a:solidFill>
          <a:ln w="12700">
            <a:solidFill>
              <a:srgbClr val="DFF2E8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046720" y="2057400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「用途」最重要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046720" y="2560320"/>
            <a:ext cx="31455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選的是物業層級 —— 時兆、正隆，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不是「時兆A2」。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知道是哪一間房的話，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下面的「房源」再選（選填）。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之後要看「哪個物業花最多錢」，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全靠用途這一欄。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不是物業的（辦公室文具、公司保險）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選「安幸辦公室」。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誰要點頭：三千元的門檻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7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看的是整張單換算成台幣的總額，不是單項金額。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1965960"/>
          </a:xfrm>
          <a:prstGeom prst="roundRect">
            <a:avLst>
              <a:gd name="adj" fmla="val 4186"/>
            </a:avLst>
          </a:prstGeom>
          <a:solidFill>
            <a:srgbClr val="DFF2E8"/>
          </a:solidFill>
          <a:ln w="12700">
            <a:solidFill>
              <a:srgbClr val="DFF2E8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87552" y="2103120"/>
            <a:ext cx="4562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總額低於 NT$3,000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87552" y="2606040"/>
            <a:ext cx="4562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送出即通過，不用等任何人。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950208"/>
            <a:ext cx="5257800" cy="1965960"/>
          </a:xfrm>
          <a:prstGeom prst="roundRect">
            <a:avLst>
              <a:gd name="adj" fmla="val 4186"/>
            </a:avLst>
          </a:prstGeom>
          <a:solidFill>
            <a:srgbClr val="DFEDFA"/>
          </a:solidFill>
          <a:ln w="12700">
            <a:solidFill>
              <a:srgbClr val="DFEDF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87552" y="4224528"/>
            <a:ext cx="4562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總額 NT$3,000 以上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87552" y="4727448"/>
            <a:ext cx="4562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主管一票 + 總經理一票，兩票到齊才通過。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誰先點都可以，沒有先後順序。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63640" y="1828800"/>
            <a:ext cx="5276088" cy="4087368"/>
          </a:xfrm>
          <a:prstGeom prst="roundRect">
            <a:avLst>
              <a:gd name="adj" fmla="val 20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11112" y="2103120"/>
            <a:ext cx="4581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幾件實務上的事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611112" y="2606040"/>
            <a:ext cx="4581144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三個項目各 1,500、總共 4,500 —— 還是要核可。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這樣才不會有人靠拆單規避。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覺得有問題可以「駁回」並寫原因，單子回到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申請人手上，改完重送。已投的票會清空。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找不到人核可？用列上的「分享」傳到 LINE，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主管點連結直接開到那張單。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核可前都還能改，改完會重新跑一次審核。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核可之後：會計填出款日，才變成支出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60704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78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核可通過只代表「可以花這筆錢」，不代表「錢已經出去了」。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DFEDFA"/>
          </a:solidFill>
          <a:ln w="12700">
            <a:solidFill>
              <a:srgbClr val="DFEDF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75688"/>
            <a:ext cx="475488" cy="475488"/>
          </a:xfrm>
          <a:prstGeom prst="ellipse">
            <a:avLst/>
          </a:prstGeom>
          <a:solidFill>
            <a:srgbClr val="41689B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756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核可通過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5603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兩票到齊。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C4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這時候還沒有任何支出紀錄。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297680" y="2697480"/>
            <a:ext cx="594360" cy="548640"/>
          </a:xfrm>
          <a:prstGeom prst="chevron">
            <a:avLst/>
          </a:prstGeom>
          <a:solidFill>
            <a:srgbClr val="A8B0B6"/>
          </a:solidFill>
          <a:ln w="12700">
            <a:solidFill>
              <a:srgbClr val="A8B0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178308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367528" y="2075688"/>
            <a:ext cx="475488" cy="475488"/>
          </a:xfrm>
          <a:prstGeom prst="ellipse">
            <a:avLst/>
          </a:prstGeom>
          <a:solidFill>
            <a:srgbClr val="2E3840"/>
          </a:solidFill>
          <a:ln/>
        </p:spPr>
      </p:sp>
      <p:sp>
        <p:nvSpPr>
          <p:cNvPr id="12" name="Text 10"/>
          <p:cNvSpPr/>
          <p:nvPr/>
        </p:nvSpPr>
        <p:spPr>
          <a:xfrm>
            <a:off x="5367528" y="20756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④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98932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會計填出款日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989320" y="25603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現金：直接「確認支付」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4A5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匯款/信用卡：先「排付款」選帳戶，錢出去後再確認。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732520" y="2697480"/>
            <a:ext cx="594360" cy="548640"/>
          </a:xfrm>
          <a:prstGeom prst="chevron">
            <a:avLst/>
          </a:prstGeom>
          <a:solidFill>
            <a:srgbClr val="3FAE7C"/>
          </a:solidFill>
          <a:ln w="12700">
            <a:solidFill>
              <a:srgbClr val="3FAE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0" y="1783080"/>
            <a:ext cx="2029968" cy="2331720"/>
          </a:xfrm>
          <a:prstGeom prst="roundRect">
            <a:avLst>
              <a:gd name="adj" fmla="val 4054"/>
            </a:avLst>
          </a:prstGeom>
          <a:solidFill>
            <a:srgbClr val="DFF2E8"/>
          </a:solidFill>
          <a:ln w="12700">
            <a:solidFill>
              <a:srgbClr val="DFF2E8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857232" y="2057400"/>
            <a:ext cx="1335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支出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857232" y="2560320"/>
            <a:ext cx="13350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自動出現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2A5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在支出頁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4343400"/>
            <a:ext cx="1089964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一張單的每個項目，各自變成一筆支出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493776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請款單 PR-202608-003（出款日 8/15）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冷氣濾網 $1,200 · 遙控器 $450 · 工資 $2,000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→ 支出頁出現三筆，日期都是 8/15，付款帳號、幣別、憑證號碼一併帶過去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最常被問的六件事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32688" y="1728216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6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「採購單填了要再填請款單嗎」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32688" y="2130552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要。採購單沒有金額，請款單才會進核可與支出。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36208" y="1600200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1728216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6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「送出了才發現填錯」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28816" y="2130552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自己撤銷，或請主管駁回。改完重送。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44952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172968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6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「找不到「確認支付」」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2688" y="3575304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匯款和信用卡要先按「排付款」選日期和帳戶。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36208" y="3044952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172968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6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「核可按鈕點不下去」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28816" y="3575304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你那票已經投過了，或你是會計（會計不核可）。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489704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617720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6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「上個月的單找不到」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32688" y="5020056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請款頁預設只顯示本月。把上方月份改掉。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36208" y="4489704"/>
            <a:ext cx="53035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0DD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28816" y="4617720"/>
            <a:ext cx="4718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16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「手機收不到通知」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28816" y="5020056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要從主畫面圖示進去，且請款頁的「核可通知」要開。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E38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記住三件事就好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874520"/>
            <a:ext cx="10515600" cy="1170432"/>
          </a:xfrm>
          <a:prstGeom prst="roundRect">
            <a:avLst>
              <a:gd name="adj" fmla="val 7813"/>
            </a:avLst>
          </a:prstGeom>
          <a:solidFill>
            <a:srgbClr val="3A4650"/>
          </a:solidFill>
          <a:ln w="12700">
            <a:solidFill>
              <a:srgbClr val="4652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2231136"/>
            <a:ext cx="457200" cy="457200"/>
          </a:xfrm>
          <a:prstGeom prst="ellipse">
            <a:avLst/>
          </a:prstGeom>
          <a:solidFill>
            <a:srgbClr val="3FAE7C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2311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10512" y="205740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用途一定要填對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810512" y="2478024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8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物業分項統計、單一物業的損益，全靠這一欄。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3191256"/>
            <a:ext cx="10515600" cy="1170432"/>
          </a:xfrm>
          <a:prstGeom prst="roundRect">
            <a:avLst>
              <a:gd name="adj" fmla="val 7813"/>
            </a:avLst>
          </a:prstGeom>
          <a:solidFill>
            <a:srgbClr val="3A4650"/>
          </a:solidFill>
          <a:ln w="12700">
            <a:solidFill>
              <a:srgbClr val="4652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3547872"/>
            <a:ext cx="457200" cy="457200"/>
          </a:xfrm>
          <a:prstGeom prst="ellipse">
            <a:avLst/>
          </a:prstGeom>
          <a:solidFill>
            <a:srgbClr val="3FAE7C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47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810512" y="3374136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系統自動算的不要手動改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810512" y="379476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8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營收報表、月租單、請款連動的支出 —— 要改就改源頭。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10515600" cy="1170432"/>
          </a:xfrm>
          <a:prstGeom prst="roundRect">
            <a:avLst>
              <a:gd name="adj" fmla="val 7813"/>
            </a:avLst>
          </a:prstGeom>
          <a:solidFill>
            <a:srgbClr val="3A4650"/>
          </a:solidFill>
          <a:ln w="12700">
            <a:solidFill>
              <a:srgbClr val="4652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43000" y="4864608"/>
            <a:ext cx="457200" cy="457200"/>
          </a:xfrm>
          <a:prstGeom prst="ellipse">
            <a:avLst/>
          </a:prstGeom>
          <a:solidFill>
            <a:srgbClr val="3FAE7C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4864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38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810512" y="4690872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核可是為了保護你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810512" y="5111496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8C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不是不信任。事後有疑問時，單子上寫得清清楚楚是誰在什麼時候點頭的。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A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有問題找 David   ·   justwork.estia.com.tw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安幸上工 ERP — 管家與房務操作說明</dc:title>
  <dc:subject>PptxGenJS Presentation</dc:subject>
  <dc:creator>安幸上工</dc:creator>
  <cp:lastModifiedBy>安幸上工</cp:lastModifiedBy>
  <cp:revision>1</cp:revision>
  <dcterms:created xsi:type="dcterms:W3CDTF">2026-08-05T02:19:56Z</dcterms:created>
  <dcterms:modified xsi:type="dcterms:W3CDTF">2026-08-05T02:19:56Z</dcterms:modified>
</cp:coreProperties>
</file>